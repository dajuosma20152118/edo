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4d855442-233b-e691-5095-892cb9429fd4}">
          <p14:sldIdLst>
            <p14:sldId id="256"/>
            <p14:sldId id="257"/>
          </p14:sldIdLst>
        </p14:section>
        <p14:section name="Detalle por KPI" id="{79295990-16fb-f9c2-e314-85d7b7a04e0e}">
          <p14:sldIdLst>
            <p14:sldId id="258"/>
            <p14:sldId id="259"/>
            <p14:sldId id="260"/>
            <p14:sldId id="261"/>
          </p14:sldIdLst>
        </p14:section>
        <p14:section name="Conclusiones" id="{3d09be09-2d23-582d-16a1-769f391d052b}">
          <p14:sldIdLst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2E"/>
                </a:solidFill>
                <a:latin typeface="+mn-lt"/>
              </a:rPr>
              <a:t>Tendencia vs. meta (datos de ejemplo)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A7F72"/>
            </a:solidFill>
            <a:ln w="31750" cap="flat">
              <a:solidFill>
                <a:srgbClr val="1A7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ai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7F72"/>
              </a:solidFill>
              <a:ln w="9525" cap="flat">
                <a:solidFill>
                  <a:srgbClr val="1A7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70</c:v>
                </c:pt>
                <c:pt idx="3">
                  <c:v>68</c:v>
                </c:pt>
                <c:pt idx="4">
                  <c:v>74</c:v>
                </c:pt>
                <c:pt idx="5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ai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Sair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2E"/>
                </a:solidFill>
                <a:latin typeface="+mn-lt"/>
              </a:rPr>
              <a:t>Tendencia vs. meta (datos de ejemplo)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A7F72"/>
            </a:solidFill>
            <a:ln w="31750" cap="flat">
              <a:solidFill>
                <a:srgbClr val="1A7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ai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7F72"/>
              </a:solidFill>
              <a:ln w="9525" cap="flat">
                <a:solidFill>
                  <a:srgbClr val="1A7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70</c:v>
                </c:pt>
                <c:pt idx="3">
                  <c:v>68</c:v>
                </c:pt>
                <c:pt idx="4">
                  <c:v>74</c:v>
                </c:pt>
                <c:pt idx="5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ai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Sair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2E"/>
                </a:solidFill>
                <a:latin typeface="+mn-lt"/>
              </a:rPr>
              <a:t>Tendencia vs. meta (datos de ejemplo)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A7F72"/>
            </a:solidFill>
            <a:ln w="31750" cap="flat">
              <a:solidFill>
                <a:srgbClr val="1A7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ai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7F72"/>
              </a:solidFill>
              <a:ln w="9525" cap="flat">
                <a:solidFill>
                  <a:srgbClr val="1A7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70</c:v>
                </c:pt>
                <c:pt idx="3">
                  <c:v>68</c:v>
                </c:pt>
                <c:pt idx="4">
                  <c:v>74</c:v>
                </c:pt>
                <c:pt idx="5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ai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Sair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A2E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F2A2E"/>
                </a:solidFill>
                <a:latin typeface="+mn-lt"/>
              </a:rPr>
              <a:t>Tendencia vs. meta (datos de ejemplo)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A7F72"/>
            </a:solidFill>
            <a:ln w="31750" cap="flat">
              <a:solidFill>
                <a:srgbClr val="1A7F7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ai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A7F72"/>
              </a:solidFill>
              <a:ln w="9525" cap="flat">
                <a:solidFill>
                  <a:srgbClr val="1A7F7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</c:v>
                </c:pt>
                <c:pt idx="1">
                  <c:v>65</c:v>
                </c:pt>
                <c:pt idx="2">
                  <c:v>70</c:v>
                </c:pt>
                <c:pt idx="3">
                  <c:v>68</c:v>
                </c:pt>
                <c:pt idx="4">
                  <c:v>74</c:v>
                </c:pt>
                <c:pt idx="5">
                  <c:v>78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2A541"/>
            </a:solidFill>
            <a:ln w="31750" cap="flat">
              <a:solidFill>
                <a:srgbClr val="F2A5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Saira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2A541"/>
              </a:solidFill>
              <a:ln w="9525" cap="flat">
                <a:solidFill>
                  <a:srgbClr val="F2A5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Mes 1</c:v>
                  </c:pt>
                  <c:pt idx="1">
                    <c:v>Mes 2</c:v>
                  </c:pt>
                  <c:pt idx="2">
                    <c:v>Mes 3</c:v>
                  </c:pt>
                  <c:pt idx="3">
                    <c:v>Mes 4</c:v>
                  </c:pt>
                  <c:pt idx="4">
                    <c:v>Mes 5</c:v>
                  </c:pt>
                  <c:pt idx="5">
                    <c:v>Mes 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</c:v>
                </c:pt>
                <c:pt idx="1">
                  <c:v>75</c:v>
                </c:pt>
                <c:pt idx="2">
                  <c:v>75</c:v>
                </c:pt>
                <c:pt idx="3">
                  <c:v>75</c:v>
                </c:pt>
                <c:pt idx="4">
                  <c:v>75</c:v>
                </c:pt>
                <c:pt idx="5">
                  <c:v>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Saira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Sustituye los textos entre corchetes: área o equipo, periodo evaluado, tu nombre y la fecha de la reunión.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Vista general en 30 segundos. Por cada KPI escribe nombre, valor actual y meta. Cambia el color del punto de estado: verde = en meta, ámbar = en riesgo, rojo = fuera de meta (usa la leyenda inferior como referencia). El mensaje principal debe ser la idea que quieres que el equipo recuerde.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1. Explica: 1) qué mide y cómo se calcula, 2) valor actual frente a la meta, 3) tendencia, 4) causa principal, 5) acción concreta. Para cargar tus datos en el gráfico: clic derecho sobre el gráfico &gt; Editar datos. Los valores actuales son solo de ejemplo. Si tienes más de 4 KPIs, duplica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2. Explica: 1) qué mide y cómo se calcula, 2) valor actual frente a la meta, 3) tendencia, 4) causa principal, 5) acción concreta. Para cargar tus datos en el gráfico: clic derecho sobre el gráfico &gt; Editar datos. Los valores actuales son solo de ejemplo. Si tienes más de 4 KPIs, duplica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3. Explica: 1) qué mide y cómo se calcula, 2) valor actual frente a la meta, 3) tendencia, 4) causa principal, 5) acción concreta. Para cargar tus datos en el gráfico: clic derecho sobre el gráfico &gt; Editar datos. Los valores actuales son solo de ejemplo. Si tienes más de 4 KPIs, duplica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4. Explica: 1) qué mide y cómo se calcula, 2) valor actual frente a la meta, 3) tendencia, 4) causa principal, 5) acción concreta. Para cargar tus datos en el gráfico: clic derecho sobre el gráfico &gt; Editar datos. Los valores actuales son solo de ejemplo. Si tienes más de 4 KPIs, duplica esta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el análisis destacando lo positivo primero y luego lo que hay que mejorar. Reconoce a las personas o equipos que contribuyeron.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paso debe tener un responsable y una fecha. Así, en la próxima revisión, podrán comprobar el avance.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Abre el espacio para preguntas y comentarios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</a:rPr>
              <a:t>[Empresa / Área] · Revisión de KPIs · [Periodo]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ct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Resultados de KPIs</a:t>
            </a:r>
            <a:endParaRPr lang="en-US" sz="4400" dirty="0"/>
          </a:p>
        </p:txBody>
      </p:sp>
      <p:sp>
        <p:nvSpPr>
          <p:cNvPr id="4" name="Campañas de seguridad"/>
          <p:cNvSpPr txBox="1"/>
          <p:nvPr/>
        </p:nvSpPr>
        <p:spPr>
          <a:xfrm>
            <a:off x="640080" y="1508760"/>
            <a:ext cx="7863840" cy="320040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ES" sz="1400" b="1" spc="100" dirty="0">
                <a:solidFill>
                  <a:schemeClr val="accent2"/>
                </a:solidFill>
              </a:rPr>
              <a:t>OBRAMAT CASTELLÓN · CAMPAÑAS DE SEGURIDAD Y SALUD</a:t>
            </a:r>
            <a:endParaRPr lang="es-ES" sz="1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[Área / Equipo] · [Periodo: mes, trimestre o año]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[Nombre del presentador] · [Fecha]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Resumen general</a:t>
            </a:r>
            <a:endParaRPr lang="en-US" sz="3400" dirty="0"/>
          </a:p>
        </p:txBody>
      </p:sp>
      <p:sp>
        <p:nvSpPr>
          <p:cNvPr id="3" name="Mensaje principal fondo"/>
          <p:cNvSpPr/>
          <p:nvPr/>
        </p:nvSpPr>
        <p:spPr>
          <a:xfrm>
            <a:off x="457200" y="1143000"/>
            <a:ext cx="8229600" cy="7315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/>
        </p:spPr>
      </p:sp>
      <p:sp>
        <p:nvSpPr>
          <p:cNvPr id="4" name="Mensaje principal"/>
          <p:cNvSpPr txBox="1"/>
          <p:nvPr/>
        </p:nvSpPr>
        <p:spPr>
          <a:xfrm>
            <a:off x="640080" y="1143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Mensaje principal: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[Una frase con la conclusión del periodo, p. ej. «3 de 4 KPIs en meta»]</a:t>
            </a:r>
            <a:endParaRPr lang="en-US" sz="1500" dirty="0"/>
          </a:p>
          <a:p>
            <a:pPr indent="0" marL="0">
              <a:spcBef>
                <a:spcPts val="300"/>
              </a:spcBef>
              <a:buNone/>
            </a:pPr>
            <a:r>
              <a:rPr lang="es-ES" sz="1300" b="1" dirty="0">
                <a:solidFill>
                  <a:schemeClr val="accent1"/>
                </a:solidFill>
              </a:rPr>
              <a:t>Seguridad: </a:t>
            </a:r>
            <a:r>
              <a:rPr lang="es-ES" sz="1300" dirty="0">
                <a:solidFill>
                  <a:schemeClr val="tx1"/>
                </a:solidFill>
              </a:rPr>
              <a:t>EPI siempre puesto · Carretilla segura · Altura sin riesgo · Pasillos despejados</a:t>
            </a:r>
            <a:endParaRPr lang="es-ES" sz="1300" dirty="0"/>
          </a:p>
        </p:txBody>
      </p:sp>
      <p:sp>
        <p:nvSpPr>
          <p:cNvPr id="5" name="Tarjeta KPI 1"/>
          <p:cNvSpPr/>
          <p:nvPr/>
        </p:nvSpPr>
        <p:spPr>
          <a:xfrm>
            <a:off x="457200" y="2048256"/>
            <a:ext cx="1851660" cy="224028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Círculo ícono KPI 1"/>
          <p:cNvSpPr/>
          <p:nvPr/>
        </p:nvSpPr>
        <p:spPr>
          <a:xfrm>
            <a:off x="640080" y="22311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Ícono KPI 1" descr="Ícono del KP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" y="2336292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2825496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[Nombre del KPI 1]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145536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[00%]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648456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</a:rPr>
              <a:t>Meta: [00%]</a:t>
            </a:r>
            <a:endParaRPr lang="en-US" sz="1200" dirty="0"/>
          </a:p>
        </p:txBody>
      </p:sp>
      <p:sp>
        <p:nvSpPr>
          <p:cNvPr id="11" name="Estado KPI 1"/>
          <p:cNvSpPr/>
          <p:nvPr/>
        </p:nvSpPr>
        <p:spPr>
          <a:xfrm>
            <a:off x="640080" y="3968496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3913632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13" name="Tarjeta KPI 2"/>
          <p:cNvSpPr/>
          <p:nvPr/>
        </p:nvSpPr>
        <p:spPr>
          <a:xfrm>
            <a:off x="2583180" y="2048256"/>
            <a:ext cx="1851660" cy="224028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Círculo ícono KPI 2"/>
          <p:cNvSpPr/>
          <p:nvPr/>
        </p:nvSpPr>
        <p:spPr>
          <a:xfrm>
            <a:off x="2766060" y="22311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Ícono KPI 2" descr="Ícono del K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216" y="233629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766060" y="2825496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[Nombre del KPI 2]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766060" y="3145536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[00%]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2766060" y="3648456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</a:rPr>
              <a:t>Meta: [00%]</a:t>
            </a:r>
            <a:endParaRPr lang="en-US" sz="1200" dirty="0"/>
          </a:p>
        </p:txBody>
      </p:sp>
      <p:sp>
        <p:nvSpPr>
          <p:cNvPr id="19" name="Estado KPI 2"/>
          <p:cNvSpPr/>
          <p:nvPr/>
        </p:nvSpPr>
        <p:spPr>
          <a:xfrm>
            <a:off x="2766060" y="3968496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2994660" y="3913632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21" name="Tarjeta KPI 3"/>
          <p:cNvSpPr/>
          <p:nvPr/>
        </p:nvSpPr>
        <p:spPr>
          <a:xfrm>
            <a:off x="4709160" y="2048256"/>
            <a:ext cx="1851660" cy="224028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Círculo ícono KPI 3"/>
          <p:cNvSpPr/>
          <p:nvPr/>
        </p:nvSpPr>
        <p:spPr>
          <a:xfrm>
            <a:off x="4892040" y="22311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Ícono KPI 3" descr="Ícono del KP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6" y="2336292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892040" y="2825496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[Nombre del KPI 3]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4892040" y="3145536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[00%]</a:t>
            </a:r>
            <a:endParaRPr lang="en-US" sz="3000" dirty="0"/>
          </a:p>
        </p:txBody>
      </p:sp>
      <p:sp>
        <p:nvSpPr>
          <p:cNvPr id="26" name="Text 21"/>
          <p:cNvSpPr txBox="1"/>
          <p:nvPr/>
        </p:nvSpPr>
        <p:spPr>
          <a:xfrm>
            <a:off x="4892040" y="3648456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</a:rPr>
              <a:t>Meta: [00%]</a:t>
            </a:r>
            <a:endParaRPr lang="en-US" sz="1200" dirty="0"/>
          </a:p>
        </p:txBody>
      </p:sp>
      <p:sp>
        <p:nvSpPr>
          <p:cNvPr id="27" name="Estado KPI 3"/>
          <p:cNvSpPr/>
          <p:nvPr/>
        </p:nvSpPr>
        <p:spPr>
          <a:xfrm>
            <a:off x="4892040" y="3968496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5120640" y="3913632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29" name="Tarjeta KPI 4"/>
          <p:cNvSpPr/>
          <p:nvPr/>
        </p:nvSpPr>
        <p:spPr>
          <a:xfrm>
            <a:off x="6835140" y="2048256"/>
            <a:ext cx="1851660" cy="2240280"/>
          </a:xfrm>
          <a:prstGeom prst="roundRect">
            <a:avLst>
              <a:gd name="adj" fmla="val 4938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Círculo ícono KPI 4"/>
          <p:cNvSpPr/>
          <p:nvPr/>
        </p:nvSpPr>
        <p:spPr>
          <a:xfrm>
            <a:off x="7018020" y="223113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Ícono KPI 4" descr="Ícono del KP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2336292"/>
            <a:ext cx="292608" cy="29260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7018020" y="2825496"/>
            <a:ext cx="14859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[Nombre del KPI 4]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7018020" y="3145536"/>
            <a:ext cx="14859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[00%]</a:t>
            </a:r>
            <a:endParaRPr lang="en-US" sz="3000" dirty="0"/>
          </a:p>
        </p:txBody>
      </p:sp>
      <p:sp>
        <p:nvSpPr>
          <p:cNvPr id="34" name="Text 28"/>
          <p:cNvSpPr txBox="1"/>
          <p:nvPr/>
        </p:nvSpPr>
        <p:spPr>
          <a:xfrm>
            <a:off x="7018020" y="3648456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</a:rPr>
              <a:t>Meta: [00%]</a:t>
            </a:r>
            <a:endParaRPr lang="en-US" sz="1200" dirty="0"/>
          </a:p>
        </p:txBody>
      </p:sp>
      <p:sp>
        <p:nvSpPr>
          <p:cNvPr id="35" name="Estado KPI 4"/>
          <p:cNvSpPr/>
          <p:nvPr/>
        </p:nvSpPr>
        <p:spPr>
          <a:xfrm>
            <a:off x="7018020" y="3968496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7246620" y="3913632"/>
            <a:ext cx="12573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37" name="Leyenda En meta"/>
          <p:cNvSpPr/>
          <p:nvPr/>
        </p:nvSpPr>
        <p:spPr>
          <a:xfrm>
            <a:off x="457200" y="4453128"/>
            <a:ext cx="128016" cy="128016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658368" y="4398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</a:rPr>
              <a:t>En meta</a:t>
            </a:r>
            <a:endParaRPr lang="en-US" sz="1100" dirty="0"/>
          </a:p>
        </p:txBody>
      </p:sp>
      <p:sp>
        <p:nvSpPr>
          <p:cNvPr id="39" name="Leyenda En riesgo"/>
          <p:cNvSpPr/>
          <p:nvPr/>
        </p:nvSpPr>
        <p:spPr>
          <a:xfrm>
            <a:off x="1920240" y="4453128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2121408" y="4398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</a:rPr>
              <a:t>En riesgo</a:t>
            </a:r>
            <a:endParaRPr lang="en-US" sz="1100" dirty="0"/>
          </a:p>
        </p:txBody>
      </p:sp>
      <p:sp>
        <p:nvSpPr>
          <p:cNvPr id="41" name="Leyenda Fuera de meta"/>
          <p:cNvSpPr/>
          <p:nvPr/>
        </p:nvSpPr>
        <p:spPr>
          <a:xfrm>
            <a:off x="3383280" y="4453128"/>
            <a:ext cx="128016" cy="128016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3584448" y="4398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</a:rPr>
              <a:t>Fuera de meta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  <p:sp>
        <p:nvSpPr>
          <p:cNvPr id="43" name="Campaña KPI 1"/>
          <p:cNvSpPr txBox="1"/>
          <p:nvPr/>
        </p:nvSpPr>
        <p:spPr>
          <a:xfrm>
            <a:off x="1234440" y="2231136"/>
            <a:ext cx="9098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800" b="1" spc="100" dirty="0">
                <a:solidFill>
                  <a:srgbClr val="5B6B70"/>
                </a:solidFill>
              </a:rPr>
              <a:t>CAMPAÑA</a:t>
            </a:r>
            <a:endParaRPr lang="es-ES" sz="800" dirty="0"/>
          </a:p>
          <a:p>
            <a:pPr indent="0" marL="0">
              <a:buNone/>
            </a:pPr>
            <a:r>
              <a:rPr lang="es-ES" sz="1000" b="1" dirty="0">
                <a:solidFill>
                  <a:schemeClr val="tx2"/>
                </a:solidFill>
              </a:rPr>
              <a:t>EPI siempre puesto</a:t>
            </a:r>
            <a:endParaRPr lang="es-ES" sz="1000" dirty="0"/>
          </a:p>
        </p:txBody>
      </p:sp>
      <p:sp>
        <p:nvSpPr>
          <p:cNvPr id="44" name="Campaña KPI 2"/>
          <p:cNvSpPr txBox="1"/>
          <p:nvPr/>
        </p:nvSpPr>
        <p:spPr>
          <a:xfrm>
            <a:off x="3360420" y="2231136"/>
            <a:ext cx="9098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800" b="1" spc="100" dirty="0">
                <a:solidFill>
                  <a:srgbClr val="5B6B70"/>
                </a:solidFill>
              </a:rPr>
              <a:t>CAMPAÑA</a:t>
            </a:r>
            <a:endParaRPr lang="es-ES" sz="800" dirty="0"/>
          </a:p>
          <a:p>
            <a:pPr indent="0" marL="0">
              <a:buNone/>
            </a:pPr>
            <a:r>
              <a:rPr lang="es-ES" sz="1000" b="1" dirty="0">
                <a:solidFill>
                  <a:schemeClr val="tx2"/>
                </a:solidFill>
              </a:rPr>
              <a:t>Carretilla segura</a:t>
            </a:r>
            <a:endParaRPr lang="es-ES" sz="1000" dirty="0"/>
          </a:p>
        </p:txBody>
      </p:sp>
      <p:sp>
        <p:nvSpPr>
          <p:cNvPr id="45" name="Campaña KPI 3"/>
          <p:cNvSpPr txBox="1"/>
          <p:nvPr/>
        </p:nvSpPr>
        <p:spPr>
          <a:xfrm>
            <a:off x="5486400" y="2231136"/>
            <a:ext cx="9098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800" b="1" spc="100" dirty="0">
                <a:solidFill>
                  <a:srgbClr val="5B6B70"/>
                </a:solidFill>
              </a:rPr>
              <a:t>CAMPAÑA</a:t>
            </a:r>
            <a:endParaRPr lang="es-ES" sz="800" dirty="0"/>
          </a:p>
          <a:p>
            <a:pPr indent="0" marL="0">
              <a:buNone/>
            </a:pPr>
            <a:r>
              <a:rPr lang="es-ES" sz="1000" b="1" dirty="0">
                <a:solidFill>
                  <a:schemeClr val="tx2"/>
                </a:solidFill>
              </a:rPr>
              <a:t>Altura sin riesgo</a:t>
            </a:r>
            <a:endParaRPr lang="es-ES" sz="1000" dirty="0"/>
          </a:p>
        </p:txBody>
      </p:sp>
      <p:sp>
        <p:nvSpPr>
          <p:cNvPr id="46" name="Campaña KPI 4"/>
          <p:cNvSpPr txBox="1"/>
          <p:nvPr/>
        </p:nvSpPr>
        <p:spPr>
          <a:xfrm>
            <a:off x="7612380" y="2231136"/>
            <a:ext cx="909828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800" b="1" spc="100" dirty="0">
                <a:solidFill>
                  <a:srgbClr val="5B6B70"/>
                </a:solidFill>
              </a:rPr>
              <a:t>CAMPAÑA</a:t>
            </a:r>
            <a:endParaRPr lang="es-ES" sz="800" dirty="0"/>
          </a:p>
          <a:p>
            <a:pPr indent="0" marL="0">
              <a:buNone/>
            </a:pPr>
            <a:r>
              <a:rPr lang="es-ES" sz="1000" b="1" dirty="0">
                <a:solidFill>
                  <a:schemeClr val="tx2"/>
                </a:solidFill>
              </a:rPr>
              <a:t>Pasillos despejados</a:t>
            </a:r>
            <a:endParaRPr lang="es-E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KPI 1 · [Nombre del KPI]</a:t>
            </a:r>
            <a:endParaRPr lang="en-US" sz="3400" dirty="0"/>
          </a:p>
        </p:txBody>
      </p:sp>
      <p:graphicFrame>
        <p:nvGraphicFramePr>
          <p:cNvPr id="3" name="Gráfico KPI 1" descr=""/>
          <p:cNvGraphicFramePr/>
          <p:nvPr/>
        </p:nvGraphicFramePr>
        <p:xfrm>
          <a:off x="457200" y="114300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valor actual"/>
          <p:cNvSpPr/>
          <p:nvPr/>
        </p:nvSpPr>
        <p:spPr>
          <a:xfrm>
            <a:off x="5212080" y="1143000"/>
            <a:ext cx="3474720" cy="15087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0"/>
                </a:solidFill>
              </a:rPr>
              <a:t>VALOR ACTUAL</a:t>
            </a:r>
            <a:endParaRPr lang="en-US" sz="1100" dirty="0"/>
          </a:p>
        </p:txBody>
      </p:sp>
      <p:sp>
        <p:nvSpPr>
          <p:cNvPr id="6" name="Estado"/>
          <p:cNvSpPr/>
          <p:nvPr/>
        </p:nvSpPr>
        <p:spPr>
          <a:xfrm>
            <a:off x="7360920" y="1307592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71232" y="1252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490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[00%]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Meta: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[00%]  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Variación: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[±0 pts]</a:t>
            </a:r>
            <a:endParaRPr lang="en-US" sz="1200" dirty="0"/>
          </a:p>
        </p:txBody>
      </p:sp>
      <p:sp>
        <p:nvSpPr>
          <p:cNvPr id="26" name="Campaña asociada"/>
          <p:cNvSpPr txBox="1"/>
          <p:nvPr/>
        </p:nvSpPr>
        <p:spPr>
          <a:xfrm>
            <a:off x="5440680" y="2354580"/>
            <a:ext cx="301752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chemeClr val="tx1"/>
                </a:solidFill>
              </a:rPr>
              <a:t>Campaña: </a:t>
            </a:r>
            <a:r>
              <a:rPr lang="es-ES" sz="1200" b="1" dirty="0">
                <a:solidFill>
                  <a:schemeClr val="accent1"/>
                </a:solidFill>
              </a:rPr>
              <a:t>«EPI siempre puesto»</a:t>
            </a:r>
            <a:endParaRPr lang="es-E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271576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Hallazgos clave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990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[Qué pasó en el periodo]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[Causa principal del resultado]</a:t>
            </a:r>
            <a:endParaRPr lang="en-US" sz="1400" dirty="0"/>
          </a:p>
        </p:txBody>
      </p:sp>
      <p:sp>
        <p:nvSpPr>
          <p:cNvPr id="12" name="Acción fondo"/>
          <p:cNvSpPr/>
          <p:nvPr/>
        </p:nvSpPr>
        <p:spPr>
          <a:xfrm>
            <a:off x="5212080" y="3566160"/>
            <a:ext cx="3474720" cy="10058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3" name="Acción"/>
          <p:cNvSpPr txBox="1"/>
          <p:nvPr/>
        </p:nvSpPr>
        <p:spPr>
          <a:xfrm>
            <a:off x="5394960" y="363016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Acción: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[Qué haremos para mejorar o mantener el resultado]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s-ES" sz="1200" b="1" dirty="0">
                <a:solidFill>
                  <a:schemeClr val="bg1"/>
                </a:solidFill>
              </a:rPr>
              <a:t>Campaña: </a:t>
            </a:r>
            <a:r>
              <a:rPr lang="es-ES" sz="1200" dirty="0">
                <a:solidFill>
                  <a:schemeClr val="bg1"/>
                </a:solidFill>
              </a:rPr>
              <a:t>control de EPI al fichar y auditoría semanal.</a:t>
            </a:r>
            <a:endParaRPr lang="es-E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KPI 2 · [Nombre del KPI]</a:t>
            </a:r>
            <a:endParaRPr lang="en-US" sz="3400" dirty="0"/>
          </a:p>
        </p:txBody>
      </p:sp>
      <p:graphicFrame>
        <p:nvGraphicFramePr>
          <p:cNvPr id="3" name="Gráfico KPI 2" descr=""/>
          <p:cNvGraphicFramePr/>
          <p:nvPr/>
        </p:nvGraphicFramePr>
        <p:xfrm>
          <a:off x="457200" y="114300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valor actual"/>
          <p:cNvSpPr/>
          <p:nvPr/>
        </p:nvSpPr>
        <p:spPr>
          <a:xfrm>
            <a:off x="5212080" y="1143000"/>
            <a:ext cx="3474720" cy="15087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0"/>
                </a:solidFill>
              </a:rPr>
              <a:t>VALOR ACTUAL</a:t>
            </a:r>
            <a:endParaRPr lang="en-US" sz="1100" dirty="0"/>
          </a:p>
        </p:txBody>
      </p:sp>
      <p:sp>
        <p:nvSpPr>
          <p:cNvPr id="6" name="Estado"/>
          <p:cNvSpPr/>
          <p:nvPr/>
        </p:nvSpPr>
        <p:spPr>
          <a:xfrm>
            <a:off x="7360920" y="1307592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71232" y="1252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490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[00%]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Meta: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[00%]  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Variación: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[±0 pts]</a:t>
            </a:r>
            <a:endParaRPr lang="en-US" sz="1200" dirty="0"/>
          </a:p>
        </p:txBody>
      </p:sp>
      <p:sp>
        <p:nvSpPr>
          <p:cNvPr id="26" name="Campaña asociada"/>
          <p:cNvSpPr txBox="1"/>
          <p:nvPr/>
        </p:nvSpPr>
        <p:spPr>
          <a:xfrm>
            <a:off x="5440680" y="2354580"/>
            <a:ext cx="301752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chemeClr val="tx1"/>
                </a:solidFill>
              </a:rPr>
              <a:t>Campaña: </a:t>
            </a:r>
            <a:r>
              <a:rPr lang="es-ES" sz="1200" b="1" dirty="0">
                <a:solidFill>
                  <a:schemeClr val="accent1"/>
                </a:solidFill>
              </a:rPr>
              <a:t>«Carretilla segura»</a:t>
            </a:r>
            <a:endParaRPr lang="es-E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271576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Hallazgos clave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990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[Qué pasó en el periodo]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[Causa principal del resultado]</a:t>
            </a:r>
            <a:endParaRPr lang="en-US" sz="1400" dirty="0"/>
          </a:p>
        </p:txBody>
      </p:sp>
      <p:sp>
        <p:nvSpPr>
          <p:cNvPr id="12" name="Acción fondo"/>
          <p:cNvSpPr/>
          <p:nvPr/>
        </p:nvSpPr>
        <p:spPr>
          <a:xfrm>
            <a:off x="5212080" y="3566160"/>
            <a:ext cx="3474720" cy="10058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3" name="Acción"/>
          <p:cNvSpPr txBox="1"/>
          <p:nvPr/>
        </p:nvSpPr>
        <p:spPr>
          <a:xfrm>
            <a:off x="5394960" y="363016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Acción: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[Qué haremos para mejorar o mantener el resultado]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s-ES" sz="1200" b="1" dirty="0">
                <a:solidFill>
                  <a:schemeClr val="bg1"/>
                </a:solidFill>
              </a:rPr>
              <a:t>Campaña: </a:t>
            </a:r>
            <a:r>
              <a:rPr lang="es-ES" sz="1200" dirty="0">
                <a:solidFill>
                  <a:schemeClr val="bg1"/>
                </a:solidFill>
              </a:rPr>
              <a:t>pasillo balizado y claxon en cada cruce.</a:t>
            </a:r>
            <a:endParaRPr lang="es-E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KPI 3 · [Nombre del KPI]</a:t>
            </a:r>
            <a:endParaRPr lang="en-US" sz="3400" dirty="0"/>
          </a:p>
        </p:txBody>
      </p:sp>
      <p:graphicFrame>
        <p:nvGraphicFramePr>
          <p:cNvPr id="3" name="Gráfico KPI 3" descr=""/>
          <p:cNvGraphicFramePr/>
          <p:nvPr/>
        </p:nvGraphicFramePr>
        <p:xfrm>
          <a:off x="457200" y="114300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valor actual"/>
          <p:cNvSpPr/>
          <p:nvPr/>
        </p:nvSpPr>
        <p:spPr>
          <a:xfrm>
            <a:off x="5212080" y="1143000"/>
            <a:ext cx="3474720" cy="15087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0"/>
                </a:solidFill>
              </a:rPr>
              <a:t>VALOR ACTUAL</a:t>
            </a:r>
            <a:endParaRPr lang="en-US" sz="1100" dirty="0"/>
          </a:p>
        </p:txBody>
      </p:sp>
      <p:sp>
        <p:nvSpPr>
          <p:cNvPr id="6" name="Estado"/>
          <p:cNvSpPr/>
          <p:nvPr/>
        </p:nvSpPr>
        <p:spPr>
          <a:xfrm>
            <a:off x="7360920" y="1307592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71232" y="1252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490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[00%]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Meta: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[00%]  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Variación: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[±0 pts]</a:t>
            </a:r>
            <a:endParaRPr lang="en-US" sz="1200" dirty="0"/>
          </a:p>
        </p:txBody>
      </p:sp>
      <p:sp>
        <p:nvSpPr>
          <p:cNvPr id="26" name="Campaña asociada"/>
          <p:cNvSpPr txBox="1"/>
          <p:nvPr/>
        </p:nvSpPr>
        <p:spPr>
          <a:xfrm>
            <a:off x="5440680" y="2354580"/>
            <a:ext cx="301752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chemeClr val="tx1"/>
                </a:solidFill>
              </a:rPr>
              <a:t>Campaña: </a:t>
            </a:r>
            <a:r>
              <a:rPr lang="es-ES" sz="1200" b="1" dirty="0">
                <a:solidFill>
                  <a:schemeClr val="accent1"/>
                </a:solidFill>
              </a:rPr>
              <a:t>«Altura sin riesgo»</a:t>
            </a:r>
            <a:endParaRPr lang="es-E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271576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Hallazgos clave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990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[Qué pasó en el periodo]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[Causa principal del resultado]</a:t>
            </a:r>
            <a:endParaRPr lang="en-US" sz="1400" dirty="0"/>
          </a:p>
        </p:txBody>
      </p:sp>
      <p:sp>
        <p:nvSpPr>
          <p:cNvPr id="12" name="Acción fondo"/>
          <p:cNvSpPr/>
          <p:nvPr/>
        </p:nvSpPr>
        <p:spPr>
          <a:xfrm>
            <a:off x="5212080" y="3566160"/>
            <a:ext cx="3474720" cy="10058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3" name="Acción"/>
          <p:cNvSpPr txBox="1"/>
          <p:nvPr/>
        </p:nvSpPr>
        <p:spPr>
          <a:xfrm>
            <a:off x="5394960" y="363016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Acción: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[Qué haremos para mejorar o mantener el resultado]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s-ES" sz="1200" b="1" dirty="0">
                <a:solidFill>
                  <a:schemeClr val="bg1"/>
                </a:solidFill>
              </a:rPr>
              <a:t>Campaña: </a:t>
            </a:r>
            <a:r>
              <a:rPr lang="es-ES" sz="1200" dirty="0">
                <a:solidFill>
                  <a:schemeClr val="bg1"/>
                </a:solidFill>
              </a:rPr>
              <a:t>reposición en altura solo con plataforma homologada.</a:t>
            </a:r>
            <a:endParaRPr lang="es-E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KPI 4 · [Nombre del KPI]</a:t>
            </a:r>
            <a:endParaRPr lang="en-US" sz="3400" dirty="0"/>
          </a:p>
        </p:txBody>
      </p:sp>
      <p:graphicFrame>
        <p:nvGraphicFramePr>
          <p:cNvPr id="3" name="Gráfico KPI 4" descr=""/>
          <p:cNvGraphicFramePr/>
          <p:nvPr/>
        </p:nvGraphicFramePr>
        <p:xfrm>
          <a:off x="457200" y="1143000"/>
          <a:ext cx="44805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 valor actual"/>
          <p:cNvSpPr/>
          <p:nvPr/>
        </p:nvSpPr>
        <p:spPr>
          <a:xfrm>
            <a:off x="5212080" y="1143000"/>
            <a:ext cx="3474720" cy="15087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440680" y="1261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B6B70"/>
                </a:solidFill>
              </a:rPr>
              <a:t>VALOR ACTUAL</a:t>
            </a:r>
            <a:endParaRPr lang="en-US" sz="1100" dirty="0"/>
          </a:p>
        </p:txBody>
      </p:sp>
      <p:sp>
        <p:nvSpPr>
          <p:cNvPr id="6" name="Estado"/>
          <p:cNvSpPr/>
          <p:nvPr/>
        </p:nvSpPr>
        <p:spPr>
          <a:xfrm>
            <a:off x="7360920" y="1307592"/>
            <a:ext cx="146304" cy="146304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571232" y="12527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[Estado]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14904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[00%]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Meta: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[00%]     </a:t>
            </a:r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Variación: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[±0 pts]</a:t>
            </a:r>
            <a:endParaRPr lang="en-US" sz="1200" dirty="0"/>
          </a:p>
        </p:txBody>
      </p:sp>
      <p:sp>
        <p:nvSpPr>
          <p:cNvPr id="26" name="Campaña asociada"/>
          <p:cNvSpPr txBox="1"/>
          <p:nvPr/>
        </p:nvSpPr>
        <p:spPr>
          <a:xfrm>
            <a:off x="5440680" y="2354580"/>
            <a:ext cx="3017520" cy="2057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200" b="1" dirty="0">
                <a:solidFill>
                  <a:schemeClr val="tx1"/>
                </a:solidFill>
              </a:rPr>
              <a:t>Campaña: </a:t>
            </a:r>
            <a:r>
              <a:rPr lang="es-ES" sz="1200" b="1" dirty="0">
                <a:solidFill>
                  <a:schemeClr val="accent1"/>
                </a:solidFill>
              </a:rPr>
              <a:t>«Pasillos despejados»</a:t>
            </a:r>
            <a:endParaRPr lang="es-E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212080" y="2715768"/>
            <a:ext cx="3474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Hallazgos clave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2990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[Qué pasó en el periodo]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[Causa principal del resultado]</a:t>
            </a:r>
            <a:endParaRPr lang="en-US" sz="1400" dirty="0"/>
          </a:p>
        </p:txBody>
      </p:sp>
      <p:sp>
        <p:nvSpPr>
          <p:cNvPr id="12" name="Acción fondo"/>
          <p:cNvSpPr/>
          <p:nvPr/>
        </p:nvSpPr>
        <p:spPr>
          <a:xfrm>
            <a:off x="5212080" y="3566160"/>
            <a:ext cx="3474720" cy="10058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/>
        </p:spPr>
      </p:sp>
      <p:sp>
        <p:nvSpPr>
          <p:cNvPr id="13" name="Acción"/>
          <p:cNvSpPr txBox="1"/>
          <p:nvPr/>
        </p:nvSpPr>
        <p:spPr>
          <a:xfrm>
            <a:off x="5394960" y="3630168"/>
            <a:ext cx="3108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Acción: </a:t>
            </a:r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[Qué haremos para mejorar o mantener el resultado]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s-ES" sz="1200" b="1" dirty="0">
                <a:solidFill>
                  <a:schemeClr val="bg1"/>
                </a:solidFill>
              </a:rPr>
              <a:t>Campaña: </a:t>
            </a:r>
            <a:r>
              <a:rPr lang="es-ES" sz="1200" dirty="0">
                <a:solidFill>
                  <a:schemeClr val="bg1"/>
                </a:solidFill>
              </a:rPr>
              <a:t>ronda de orden y limpieza en cada turno.</a:t>
            </a:r>
            <a:endParaRPr lang="es-E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Logros y oportunidades de mejora</a:t>
            </a:r>
            <a:endParaRPr lang="en-US" sz="3400" dirty="0"/>
          </a:p>
        </p:txBody>
      </p:sp>
      <p:sp>
        <p:nvSpPr>
          <p:cNvPr id="3" name="Logros del periodo fondo"/>
          <p:cNvSpPr/>
          <p:nvPr/>
        </p:nvSpPr>
        <p:spPr>
          <a:xfrm>
            <a:off x="457200" y="1188720"/>
            <a:ext cx="397764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</p:spPr>
      </p:sp>
      <p:sp>
        <p:nvSpPr>
          <p:cNvPr id="4" name="Logros del periodo círculo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Logros del periodo ícono" descr="Logros del perio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27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17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Logros del periodo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[Logro 1 y su impacto]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[Logro 2 y su impacto]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[Reconocimiento al equipo o persona]</a:t>
            </a:r>
            <a:endParaRPr lang="en-US" sz="1400" dirty="0"/>
          </a:p>
          <a:p>
            <a:pPr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s-ES" sz="1100" b="1" spc="100" dirty="0">
                <a:solidFill>
                  <a:schemeClr val="accent1"/>
                </a:solidFill>
              </a:rPr>
              <a:t>CAMPAÑAS DE SEGURIDAD</a:t>
            </a:r>
            <a:endParaRPr lang="es-ES" sz="1100" dirty="0"/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lang="es-ES" sz="1300" b="1" dirty="0">
                <a:solidFill>
                  <a:schemeClr val="tx2"/>
                </a:solidFill>
              </a:rPr>
              <a:t>«EPI siempre puesto»: </a:t>
            </a:r>
            <a:r>
              <a:rPr lang="es-ES" sz="1300" dirty="0">
                <a:solidFill>
                  <a:schemeClr val="tx1"/>
                </a:solidFill>
              </a:rPr>
              <a:t>[% de plantilla con EPI completo en auditoría]</a:t>
            </a:r>
            <a:endParaRPr lang="es-ES" sz="1300" dirty="0"/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lang="es-ES" sz="1300" b="1" dirty="0">
                <a:solidFill>
                  <a:schemeClr val="tx2"/>
                </a:solidFill>
              </a:rPr>
              <a:t>«Pasillos despejados»: </a:t>
            </a:r>
            <a:r>
              <a:rPr lang="es-ES" sz="1300" dirty="0">
                <a:solidFill>
                  <a:schemeClr val="tx1"/>
                </a:solidFill>
              </a:rPr>
              <a:t>[días seguidos sin incidencias de orden]</a:t>
            </a:r>
            <a:endParaRPr lang="es-ES" sz="1300" dirty="0"/>
          </a:p>
        </p:txBody>
      </p:sp>
      <p:sp>
        <p:nvSpPr>
          <p:cNvPr id="8" name="Oportunidades de mejora fondo"/>
          <p:cNvSpPr/>
          <p:nvPr/>
        </p:nvSpPr>
        <p:spPr>
          <a:xfrm>
            <a:off x="4709160" y="1188720"/>
            <a:ext cx="3977640" cy="3337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</p:spPr>
      </p:sp>
      <p:sp>
        <p:nvSpPr>
          <p:cNvPr id="9" name="Oportunidades de mejora círculo"/>
          <p:cNvSpPr/>
          <p:nvPr/>
        </p:nvSpPr>
        <p:spPr>
          <a:xfrm>
            <a:off x="4983480" y="14173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Oportunidades de mejora ícono" descr="Oportunidades de mejo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527048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4173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Oportunidades de mejora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0312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[KPI en riesgo y por qué]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[Obstáculo detectado]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[Apoyo o recurso que se necesita]</a:t>
            </a:r>
            <a:endParaRPr lang="en-US" sz="1400" dirty="0"/>
          </a:p>
          <a:p>
            <a:pPr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s-ES" sz="1100" b="1" spc="100" dirty="0">
                <a:solidFill>
                  <a:schemeClr val="accent1"/>
                </a:solidFill>
              </a:rPr>
              <a:t>CAMPAÑAS DE SEGURIDAD</a:t>
            </a:r>
            <a:endParaRPr lang="es-ES" sz="1100" dirty="0"/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lang="es-ES" sz="1300" b="1" dirty="0">
                <a:solidFill>
                  <a:schemeClr val="tx2"/>
                </a:solidFill>
              </a:rPr>
              <a:t>«Carretilla segura»: </a:t>
            </a:r>
            <a:r>
              <a:rPr lang="es-ES" sz="1300" dirty="0">
                <a:solidFill>
                  <a:schemeClr val="tx1"/>
                </a:solidFill>
              </a:rPr>
              <a:t>separar peatones y máquinas en horas punta</a:t>
            </a:r>
            <a:endParaRPr lang="es-ES" sz="1300" dirty="0"/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lang="es-ES" sz="1300" b="1" dirty="0">
                <a:solidFill>
                  <a:schemeClr val="tx2"/>
                </a:solidFill>
              </a:rPr>
              <a:t>«Cliente seguro»: </a:t>
            </a:r>
            <a:r>
              <a:rPr lang="es-ES" sz="1300" dirty="0">
                <a:solidFill>
                  <a:schemeClr val="tx1"/>
                </a:solidFill>
              </a:rPr>
              <a:t>acompañar la carga de vehículos en el patio</a:t>
            </a:r>
            <a:endParaRPr lang="es-E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Próximos pasos</a:t>
            </a:r>
            <a:endParaRPr lang="en-US" sz="3400" dirty="0"/>
          </a:p>
        </p:txBody>
      </p:sp>
      <p:sp>
        <p:nvSpPr>
          <p:cNvPr id="3" name="Conector pasos"/>
          <p:cNvSpPr/>
          <p:nvPr/>
        </p:nvSpPr>
        <p:spPr>
          <a:xfrm>
            <a:off x="1234440" y="1554480"/>
            <a:ext cx="5669280" cy="0"/>
          </a:xfrm>
          <a:prstGeom prst="line">
            <a:avLst/>
          </a:prstGeom>
          <a:noFill/>
          <a:ln w="25400">
            <a:solidFill>
              <a:srgbClr val="C9D6D4"/>
            </a:solidFill>
            <a:prstDash val="solid"/>
          </a:ln>
        </p:spPr>
      </p:sp>
      <p:sp>
        <p:nvSpPr>
          <p:cNvPr id="4" name="Paso 1 círculo"/>
          <p:cNvSpPr/>
          <p:nvPr/>
        </p:nvSpPr>
        <p:spPr>
          <a:xfrm>
            <a:off x="914400" y="123444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Paso 1 tarjeta"/>
          <p:cNvSpPr/>
          <p:nvPr/>
        </p:nvSpPr>
        <p:spPr>
          <a:xfrm>
            <a:off x="457200" y="210312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2240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[Acción 1: qué se hará]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Responsable: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[Nombre]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Fecha límite: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[dd/mm/aaaa]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KPI impactado: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[KPI]</a:t>
            </a:r>
            <a:endParaRPr lang="en-US" sz="1300" dirty="0"/>
          </a:p>
        </p:txBody>
      </p:sp>
      <p:sp>
        <p:nvSpPr>
          <p:cNvPr id="26" name="Campaña paso 1 fondo"/>
          <p:cNvSpPr/>
          <p:nvPr/>
        </p:nvSpPr>
        <p:spPr>
          <a:xfrm>
            <a:off x="640080" y="3511296"/>
            <a:ext cx="2194560" cy="8686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7" name="Campaña paso 1"/>
          <p:cNvSpPr txBox="1"/>
          <p:nvPr/>
        </p:nvSpPr>
        <p:spPr>
          <a:xfrm>
            <a:off x="731520" y="3511296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800" b="1" spc="100" dirty="0">
                <a:solidFill>
                  <a:srgbClr val="5B6B70"/>
                </a:solidFill>
              </a:rPr>
              <a:t>CAMPAÑA</a:t>
            </a:r>
            <a:endParaRPr lang="es-ES" sz="800" dirty="0"/>
          </a:p>
          <a:p>
            <a:pPr indent="0" marL="0">
              <a:spcAft>
                <a:spcPts val="200"/>
              </a:spcAft>
              <a:buNone/>
            </a:pPr>
            <a:r>
              <a:rPr lang="es-ES" sz="1100" b="1" dirty="0">
                <a:solidFill>
                  <a:schemeClr val="accent1"/>
                </a:solidFill>
              </a:rPr>
              <a:t>«Altura sin riesgo»</a:t>
            </a:r>
            <a:endParaRPr lang="es-ES" sz="1100" dirty="0"/>
          </a:p>
          <a:p>
            <a:pPr indent="0" marL="0">
              <a:buNone/>
            </a:pPr>
            <a:r>
              <a:rPr lang="es-ES" sz="1100" dirty="0">
                <a:solidFill>
                  <a:schemeClr val="tx1"/>
                </a:solidFill>
              </a:rPr>
              <a:t>Prácticas con plataformas y escaleras de reposición.</a:t>
            </a:r>
            <a:endParaRPr lang="es-ES" sz="1100" dirty="0"/>
          </a:p>
        </p:txBody>
      </p:sp>
      <p:sp>
        <p:nvSpPr>
          <p:cNvPr id="9" name="Paso 2 círculo"/>
          <p:cNvSpPr/>
          <p:nvPr/>
        </p:nvSpPr>
        <p:spPr>
          <a:xfrm>
            <a:off x="3749040" y="123444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Paso 2 tarjeta"/>
          <p:cNvSpPr/>
          <p:nvPr/>
        </p:nvSpPr>
        <p:spPr>
          <a:xfrm>
            <a:off x="3291840" y="210312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474720" y="2240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[Acción 2: qué se hará]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Responsable: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[Nombre]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Fecha límite: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[dd/mm/aaaa]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KPI impactado: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[KPI]</a:t>
            </a:r>
            <a:endParaRPr lang="en-US" sz="1300" dirty="0"/>
          </a:p>
        </p:txBody>
      </p:sp>
      <p:sp>
        <p:nvSpPr>
          <p:cNvPr id="28" name="Campaña paso 2 fondo"/>
          <p:cNvSpPr/>
          <p:nvPr/>
        </p:nvSpPr>
        <p:spPr>
          <a:xfrm>
            <a:off x="3474720" y="3511296"/>
            <a:ext cx="2194560" cy="8686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29" name="Campaña paso 2"/>
          <p:cNvSpPr txBox="1"/>
          <p:nvPr/>
        </p:nvSpPr>
        <p:spPr>
          <a:xfrm>
            <a:off x="3566160" y="3511296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800" b="1" spc="100" dirty="0">
                <a:solidFill>
                  <a:srgbClr val="5B6B70"/>
                </a:solidFill>
              </a:rPr>
              <a:t>CAMPAÑA</a:t>
            </a:r>
            <a:endParaRPr lang="es-ES" sz="800" dirty="0"/>
          </a:p>
          <a:p>
            <a:pPr indent="0" marL="0">
              <a:spcAft>
                <a:spcPts val="200"/>
              </a:spcAft>
              <a:buNone/>
            </a:pPr>
            <a:r>
              <a:rPr lang="es-ES" sz="1100" b="1" dirty="0">
                <a:solidFill>
                  <a:schemeClr val="accent1"/>
                </a:solidFill>
              </a:rPr>
              <a:t>«Cliente seguro»</a:t>
            </a:r>
            <a:endParaRPr lang="es-ES" sz="1100" dirty="0"/>
          </a:p>
          <a:p>
            <a:pPr indent="0" marL="0">
              <a:buNone/>
            </a:pPr>
            <a:r>
              <a:rPr lang="es-ES" sz="1100" dirty="0">
                <a:solidFill>
                  <a:schemeClr val="tx1"/>
                </a:solidFill>
              </a:rPr>
              <a:t>Pasos peatonales señalizados en el patio de carga.</a:t>
            </a:r>
            <a:endParaRPr lang="es-ES" sz="1100" dirty="0"/>
          </a:p>
        </p:txBody>
      </p:sp>
      <p:sp>
        <p:nvSpPr>
          <p:cNvPr id="14" name="Paso 3 círculo"/>
          <p:cNvSpPr/>
          <p:nvPr/>
        </p:nvSpPr>
        <p:spPr>
          <a:xfrm>
            <a:off x="6583680" y="1234440"/>
            <a:ext cx="640080" cy="64008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234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Paso 3 tarjeta"/>
          <p:cNvSpPr/>
          <p:nvPr/>
        </p:nvSpPr>
        <p:spPr>
          <a:xfrm>
            <a:off x="6126480" y="2103120"/>
            <a:ext cx="2560320" cy="2423160"/>
          </a:xfrm>
          <a:prstGeom prst="roundRect">
            <a:avLst>
              <a:gd name="adj" fmla="val 3774"/>
            </a:avLst>
          </a:prstGeom>
          <a:solidFill>
            <a:schemeClr val="bg1"/>
          </a:solidFill>
          <a:ln w="9525">
            <a:solidFill>
              <a:srgbClr val="DCE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309360" y="22402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[Acción 3: qué se hará]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743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Responsable: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[Nombre]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Fecha límite: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[dd/mm/aaaa]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KPI impactado: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[KPI]</a:t>
            </a:r>
            <a:endParaRPr lang="en-US" sz="1300" dirty="0"/>
          </a:p>
        </p:txBody>
      </p:sp>
      <p:sp>
        <p:nvSpPr>
          <p:cNvPr id="30" name="Campaña paso 3 fondo"/>
          <p:cNvSpPr/>
          <p:nvPr/>
        </p:nvSpPr>
        <p:spPr>
          <a:xfrm>
            <a:off x="6309360" y="3511296"/>
            <a:ext cx="2194560" cy="86868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>
            <a:noFill/>
          </a:ln>
        </p:spPr>
      </p:sp>
      <p:sp>
        <p:nvSpPr>
          <p:cNvPr id="31" name="Campaña paso 3"/>
          <p:cNvSpPr txBox="1"/>
          <p:nvPr/>
        </p:nvSpPr>
        <p:spPr>
          <a:xfrm>
            <a:off x="6400800" y="3511296"/>
            <a:ext cx="2011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800" b="1" spc="100" dirty="0">
                <a:solidFill>
                  <a:srgbClr val="5B6B70"/>
                </a:solidFill>
              </a:rPr>
              <a:t>CAMPAÑA</a:t>
            </a:r>
            <a:endParaRPr lang="es-ES" sz="800" dirty="0"/>
          </a:p>
          <a:p>
            <a:pPr indent="0" marL="0">
              <a:spcAft>
                <a:spcPts val="200"/>
              </a:spcAft>
              <a:buNone/>
            </a:pPr>
            <a:r>
              <a:rPr lang="es-ES" sz="1100" b="1" dirty="0">
                <a:solidFill>
                  <a:schemeClr val="accent1"/>
                </a:solidFill>
              </a:rPr>
              <a:t>«Plan de emergencia»</a:t>
            </a:r>
            <a:endParaRPr lang="es-ES" sz="1100" dirty="0"/>
          </a:p>
          <a:p>
            <a:pPr indent="0" marL="0">
              <a:buNone/>
            </a:pPr>
            <a:r>
              <a:rPr lang="es-ES" sz="1100" dirty="0">
                <a:solidFill>
                  <a:schemeClr val="tx1"/>
                </a:solidFill>
              </a:rPr>
              <a:t>Simulacro de evacuación y revisión de extintores.</a:t>
            </a:r>
            <a:endParaRPr lang="es-E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¿Preguntas?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Gracias · [Nombre del presentador] · [Correo o extensión]</a:t>
            </a:r>
            <a:endParaRPr lang="en-US" sz="1800" dirty="0"/>
          </a:p>
        </p:txBody>
      </p:sp>
      <p:sp>
        <p:nvSpPr>
          <p:cNvPr id="4" name="Lema de seguridad"/>
          <p:cNvSpPr txBox="1"/>
          <p:nvPr/>
        </p:nvSpPr>
        <p:spPr>
          <a:xfrm>
            <a:off x="548640" y="3566160"/>
            <a:ext cx="804672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indent="0" marL="0" algn="ctr">
              <a:buNone/>
            </a:pPr>
            <a:r>
              <a:rPr lang="es-ES" sz="1300" b="1" spc="100" dirty="0">
                <a:solidFill>
                  <a:schemeClr val="accent2"/>
                </a:solidFill>
              </a:rPr>
              <a:t>LA SEGURIDAD LA CONSTRUIMOS ENTRE TODOS · OBRAMAT CASTELLÓN</a:t>
            </a:r>
            <a:endParaRPr lang="es-E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PI Verde Azulado">
  <a:themeElements>
    <a:clrScheme name="KPI Verde Azulado">
      <a:dk1>
        <a:srgbClr val="1F2A2E"/>
      </a:dk1>
      <a:lt1>
        <a:srgbClr val="FFFFFF"/>
      </a:lt1>
      <a:dk2>
        <a:srgbClr val="0E3B43"/>
      </a:dk2>
      <a:lt2>
        <a:srgbClr val="EEF4F3"/>
      </a:lt2>
      <a:accent1>
        <a:srgbClr val="1A7F72"/>
      </a:accent1>
      <a:accent2>
        <a:srgbClr val="F2A541"/>
      </a:accent2>
      <a:accent3>
        <a:srgbClr val="2E9E5B"/>
      </a:accent3>
      <a:accent4>
        <a:srgbClr val="D64545"/>
      </a:accent4>
      <a:accent5>
        <a:srgbClr val="5B8C99"/>
      </a:accent5>
      <a:accent6>
        <a:srgbClr val="9AA5A8"/>
      </a:accent6>
      <a:hlink>
        <a:srgbClr val="1A7F72"/>
      </a:hlink>
      <a:folHlink>
        <a:srgbClr val="5B8C99"/>
      </a:folHlink>
    </a:clrScheme>
    <a:fontScheme name="KPI Verde Azulado">
      <a:majorFont>
        <a:latin typeface="Sai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ai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de KPIs</dc:title>
  <dc:subject>PptxGenJS Presentation</dc:subject>
  <dc:creator>Equipo</dc:creator>
  <cp:lastModifiedBy>Equipo</cp:lastModifiedBy>
  <cp:revision>1</cp:revision>
  <dcterms:created xsi:type="dcterms:W3CDTF">2026-10-06T09:31:48Z</dcterms:created>
  <dcterms:modified xsi:type="dcterms:W3CDTF">2026-10-06T09:31:48Z</dcterms:modified>
</cp:coreProperties>
</file>